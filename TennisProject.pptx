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8288000" cy="10287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Montserrat Bold" panose="00000800000000000000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22" autoAdjust="0"/>
  </p:normalViewPr>
  <p:slideViewPr>
    <p:cSldViewPr>
      <p:cViewPr varScale="1">
        <p:scale>
          <a:sx n="54" d="100"/>
          <a:sy n="54" d="100"/>
        </p:scale>
        <p:origin x="782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A7DA4-3D5A-4B20-9DC2-36E8033990A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2B543F-E6DD-4796-B191-6880B46B4A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877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2B543F-E6DD-4796-B191-6880B46B4AE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19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3212" b="-8321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676002" y="3001464"/>
            <a:ext cx="2906341" cy="2922280"/>
          </a:xfrm>
          <a:custGeom>
            <a:avLst/>
            <a:gdLst/>
            <a:ahLst/>
            <a:cxnLst/>
            <a:rect l="l" t="t" r="r" b="b"/>
            <a:pathLst>
              <a:path w="2906341" h="2922280">
                <a:moveTo>
                  <a:pt x="0" y="0"/>
                </a:moveTo>
                <a:lnTo>
                  <a:pt x="2906340" y="0"/>
                </a:lnTo>
                <a:lnTo>
                  <a:pt x="2906340" y="2922280"/>
                </a:lnTo>
                <a:lnTo>
                  <a:pt x="0" y="292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867427" y="631804"/>
            <a:ext cx="16553146" cy="483278"/>
            <a:chOff x="0" y="0"/>
            <a:chExt cx="13919925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19926" cy="406400"/>
            </a:xfrm>
            <a:custGeom>
              <a:avLst/>
              <a:gdLst/>
              <a:ahLst/>
              <a:cxnLst/>
              <a:rect l="l" t="t" r="r" b="b"/>
              <a:pathLst>
                <a:path w="13919926" h="406400">
                  <a:moveTo>
                    <a:pt x="13716726" y="0"/>
                  </a:moveTo>
                  <a:cubicBezTo>
                    <a:pt x="13828950" y="0"/>
                    <a:pt x="13919926" y="90976"/>
                    <a:pt x="13919926" y="203200"/>
                  </a:cubicBezTo>
                  <a:cubicBezTo>
                    <a:pt x="13919926" y="315424"/>
                    <a:pt x="13828950" y="406400"/>
                    <a:pt x="137167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13919925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6843308" y="754318"/>
            <a:ext cx="415992" cy="238250"/>
          </a:xfrm>
          <a:custGeom>
            <a:avLst/>
            <a:gdLst/>
            <a:ahLst/>
            <a:cxnLst/>
            <a:rect l="l" t="t" r="r" b="b"/>
            <a:pathLst>
              <a:path w="415992" h="238250">
                <a:moveTo>
                  <a:pt x="0" y="0"/>
                </a:moveTo>
                <a:lnTo>
                  <a:pt x="415992" y="0"/>
                </a:lnTo>
                <a:lnTo>
                  <a:pt x="415992" y="238250"/>
                </a:lnTo>
                <a:lnTo>
                  <a:pt x="0" y="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>
            <a:off x="-62658" y="9776272"/>
            <a:ext cx="18350658" cy="0"/>
          </a:xfrm>
          <a:prstGeom prst="line">
            <a:avLst/>
          </a:prstGeom>
          <a:ln w="2857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2"/>
          <p:cNvSpPr txBox="1"/>
          <p:nvPr/>
        </p:nvSpPr>
        <p:spPr>
          <a:xfrm>
            <a:off x="15463229" y="765810"/>
            <a:ext cx="1276489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24EEC2-C76E-45FD-8CAA-C69F0B8C163A}"/>
              </a:ext>
            </a:extLst>
          </p:cNvPr>
          <p:cNvSpPr txBox="1"/>
          <p:nvPr/>
        </p:nvSpPr>
        <p:spPr>
          <a:xfrm>
            <a:off x="2171700" y="6520024"/>
            <a:ext cx="13944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8000" b="1">
                <a:solidFill>
                  <a:schemeClr val="bg1"/>
                </a:solidFill>
                <a:cs typeface="B Nazanin" panose="00000400000000000000" pitchFamily="2" charset="-78"/>
              </a:rPr>
              <a:t>تحلیل و بررسی پروژه تنیس</a:t>
            </a:r>
            <a:endParaRPr lang="en-US" sz="8000" b="1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D78B30-123E-4CC4-830B-0C2040C50017}"/>
              </a:ext>
            </a:extLst>
          </p:cNvPr>
          <p:cNvSpPr txBox="1"/>
          <p:nvPr/>
        </p:nvSpPr>
        <p:spPr>
          <a:xfrm>
            <a:off x="2057400" y="8267700"/>
            <a:ext cx="1394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4000" b="1">
                <a:solidFill>
                  <a:schemeClr val="bg1"/>
                </a:solidFill>
                <a:cs typeface="B Nazanin" panose="00000400000000000000" pitchFamily="2" charset="-78"/>
              </a:rPr>
              <a:t>اسماء زمانی             مهدیه نمازی           محدثه رفیقی</a:t>
            </a:r>
            <a:endParaRPr lang="en-US" sz="4000" b="1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B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7427" y="631804"/>
            <a:ext cx="16553146" cy="483278"/>
            <a:chOff x="0" y="0"/>
            <a:chExt cx="13919925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19926" cy="406400"/>
            </a:xfrm>
            <a:custGeom>
              <a:avLst/>
              <a:gdLst/>
              <a:ahLst/>
              <a:cxnLst/>
              <a:rect l="l" t="t" r="r" b="b"/>
              <a:pathLst>
                <a:path w="13919926" h="406400">
                  <a:moveTo>
                    <a:pt x="13716726" y="0"/>
                  </a:moveTo>
                  <a:cubicBezTo>
                    <a:pt x="13828950" y="0"/>
                    <a:pt x="13919926" y="90976"/>
                    <a:pt x="13919926" y="203200"/>
                  </a:cubicBezTo>
                  <a:cubicBezTo>
                    <a:pt x="13919926" y="315424"/>
                    <a:pt x="13828950" y="406400"/>
                    <a:pt x="137167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13919925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843308" y="754318"/>
            <a:ext cx="415992" cy="238250"/>
          </a:xfrm>
          <a:custGeom>
            <a:avLst/>
            <a:gdLst/>
            <a:ahLst/>
            <a:cxnLst/>
            <a:rect l="l" t="t" r="r" b="b"/>
            <a:pathLst>
              <a:path w="415992" h="238250">
                <a:moveTo>
                  <a:pt x="0" y="0"/>
                </a:moveTo>
                <a:lnTo>
                  <a:pt x="415992" y="0"/>
                </a:lnTo>
                <a:lnTo>
                  <a:pt x="415992" y="238250"/>
                </a:lnTo>
                <a:lnTo>
                  <a:pt x="0" y="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-62658" y="9776272"/>
            <a:ext cx="18350658" cy="0"/>
          </a:xfrm>
          <a:prstGeom prst="line">
            <a:avLst/>
          </a:prstGeom>
          <a:ln w="2857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144000" y="5143500"/>
            <a:ext cx="9144000" cy="4114800"/>
            <a:chOff x="0" y="0"/>
            <a:chExt cx="1416645" cy="637490"/>
          </a:xfrm>
        </p:grpSpPr>
        <p:sp>
          <p:nvSpPr>
            <p:cNvPr id="8" name="Freeform 8"/>
            <p:cNvSpPr/>
            <p:nvPr/>
          </p:nvSpPr>
          <p:spPr>
            <a:xfrm flipH="1">
              <a:off x="0" y="0"/>
              <a:ext cx="1416645" cy="637490"/>
            </a:xfrm>
            <a:custGeom>
              <a:avLst/>
              <a:gdLst/>
              <a:ahLst/>
              <a:cxnLst/>
              <a:rect l="l" t="t" r="r" b="b"/>
              <a:pathLst>
                <a:path w="1416645" h="637490">
                  <a:moveTo>
                    <a:pt x="1416645" y="0"/>
                  </a:moveTo>
                  <a:lnTo>
                    <a:pt x="0" y="0"/>
                  </a:lnTo>
                  <a:lnTo>
                    <a:pt x="0" y="637490"/>
                  </a:lnTo>
                  <a:lnTo>
                    <a:pt x="1416645" y="637490"/>
                  </a:lnTo>
                  <a:close/>
                </a:path>
              </a:pathLst>
            </a:custGeom>
            <a:blipFill>
              <a:blip r:embed="rId4"/>
              <a:stretch>
                <a:fillRect t="-24141" b="-24141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028700" y="4055988"/>
            <a:ext cx="9211505" cy="3450842"/>
            <a:chOff x="0" y="0"/>
            <a:chExt cx="452307" cy="1694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52307" cy="169445"/>
            </a:xfrm>
            <a:custGeom>
              <a:avLst/>
              <a:gdLst/>
              <a:ahLst/>
              <a:cxnLst/>
              <a:rect l="l" t="t" r="r" b="b"/>
              <a:pathLst>
                <a:path w="452307" h="169445">
                  <a:moveTo>
                    <a:pt x="0" y="0"/>
                  </a:moveTo>
                  <a:lnTo>
                    <a:pt x="452307" y="0"/>
                  </a:lnTo>
                  <a:lnTo>
                    <a:pt x="452307" y="169445"/>
                  </a:lnTo>
                  <a:lnTo>
                    <a:pt x="0" y="169445"/>
                  </a:lnTo>
                  <a:close/>
                </a:path>
              </a:pathLst>
            </a:custGeom>
            <a:solidFill>
              <a:srgbClr val="30678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47625"/>
              <a:ext cx="452307" cy="12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664792" y="1464355"/>
            <a:ext cx="6594508" cy="3329872"/>
            <a:chOff x="0" y="0"/>
            <a:chExt cx="1021662" cy="5158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21662" cy="515884"/>
            </a:xfrm>
            <a:custGeom>
              <a:avLst/>
              <a:gdLst/>
              <a:ahLst/>
              <a:cxnLst/>
              <a:rect l="l" t="t" r="r" b="b"/>
              <a:pathLst>
                <a:path w="1021662" h="515884">
                  <a:moveTo>
                    <a:pt x="0" y="0"/>
                  </a:moveTo>
                  <a:lnTo>
                    <a:pt x="1021662" y="0"/>
                  </a:lnTo>
                  <a:lnTo>
                    <a:pt x="1021662" y="515884"/>
                  </a:lnTo>
                  <a:lnTo>
                    <a:pt x="0" y="515884"/>
                  </a:lnTo>
                  <a:close/>
                </a:path>
              </a:pathLst>
            </a:custGeom>
            <a:blipFill>
              <a:blip r:embed="rId5"/>
              <a:stretch>
                <a:fillRect t="-16073" b="-16073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5463229" y="765810"/>
            <a:ext cx="1276489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02</a:t>
            </a: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2E21F91E-32AB-4BD1-AE11-CF06A9FD40B1}"/>
              </a:ext>
            </a:extLst>
          </p:cNvPr>
          <p:cNvSpPr/>
          <p:nvPr/>
        </p:nvSpPr>
        <p:spPr>
          <a:xfrm>
            <a:off x="1236577" y="2192983"/>
            <a:ext cx="9013153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4400" b="1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مقدمه و هدف پروژه</a:t>
            </a:r>
            <a:endParaRPr lang="en-US" sz="440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F854A5D6-BCF7-4D61-B5EF-C144D4804372}"/>
              </a:ext>
            </a:extLst>
          </p:cNvPr>
          <p:cNvSpPr/>
          <p:nvPr/>
        </p:nvSpPr>
        <p:spPr>
          <a:xfrm>
            <a:off x="1422719" y="4393110"/>
            <a:ext cx="8423466" cy="2695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en-US" sz="280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این پروژه با هدف تحلیل آماری و کاوش داده در دنیای تنیس حرفه‌ای انجام شده است</a:t>
            </a:r>
            <a:r>
              <a:rPr lang="fa-IR" sz="280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.</a:t>
            </a:r>
            <a:r>
              <a:rPr lang="en-US" sz="280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 داده‌ها از وب‌سایت Sofascore </a:t>
            </a:r>
            <a:r>
              <a:rPr lang="fa-IR" sz="280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 </a:t>
            </a:r>
            <a:r>
              <a:rPr lang="en-US" sz="280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جمع‌آوری، پاکسازی و در قالب جداول ساخت‌یافته سازمان‌دهی شده‌اند تا به۱۷ پرسش اصلی پروژه و ۶ </a:t>
            </a:r>
            <a:r>
              <a:rPr lang="fa-IR" sz="280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 </a:t>
            </a:r>
            <a:r>
              <a:rPr lang="en-US" sz="280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پرسش تحلیلی طراحی‌شده پاسخ داده شود.</a:t>
            </a:r>
            <a:endParaRPr lang="en-US" sz="280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A2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7427" y="631804"/>
            <a:ext cx="16553146" cy="483278"/>
            <a:chOff x="0" y="0"/>
            <a:chExt cx="13919925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19926" cy="406400"/>
            </a:xfrm>
            <a:custGeom>
              <a:avLst/>
              <a:gdLst/>
              <a:ahLst/>
              <a:cxnLst/>
              <a:rect l="l" t="t" r="r" b="b"/>
              <a:pathLst>
                <a:path w="13919926" h="406400">
                  <a:moveTo>
                    <a:pt x="13716726" y="0"/>
                  </a:moveTo>
                  <a:cubicBezTo>
                    <a:pt x="13828950" y="0"/>
                    <a:pt x="13919926" y="90976"/>
                    <a:pt x="13919926" y="203200"/>
                  </a:cubicBezTo>
                  <a:cubicBezTo>
                    <a:pt x="13919926" y="315424"/>
                    <a:pt x="13828950" y="406400"/>
                    <a:pt x="137167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13919925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843308" y="754318"/>
            <a:ext cx="415992" cy="238250"/>
          </a:xfrm>
          <a:custGeom>
            <a:avLst/>
            <a:gdLst/>
            <a:ahLst/>
            <a:cxnLst/>
            <a:rect l="l" t="t" r="r" b="b"/>
            <a:pathLst>
              <a:path w="415992" h="238250">
                <a:moveTo>
                  <a:pt x="0" y="0"/>
                </a:moveTo>
                <a:lnTo>
                  <a:pt x="415992" y="0"/>
                </a:lnTo>
                <a:lnTo>
                  <a:pt x="415992" y="238250"/>
                </a:lnTo>
                <a:lnTo>
                  <a:pt x="0" y="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-62658" y="9776272"/>
            <a:ext cx="18350658" cy="0"/>
          </a:xfrm>
          <a:prstGeom prst="line">
            <a:avLst/>
          </a:prstGeom>
          <a:ln w="2857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0" y="1942334"/>
            <a:ext cx="6564181" cy="7315966"/>
            <a:chOff x="0" y="0"/>
            <a:chExt cx="1016963" cy="113343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6963" cy="1133435"/>
            </a:xfrm>
            <a:custGeom>
              <a:avLst/>
              <a:gdLst/>
              <a:ahLst/>
              <a:cxnLst/>
              <a:rect l="l" t="t" r="r" b="b"/>
              <a:pathLst>
                <a:path w="1016963" h="1133435">
                  <a:moveTo>
                    <a:pt x="0" y="0"/>
                  </a:moveTo>
                  <a:lnTo>
                    <a:pt x="1016963" y="0"/>
                  </a:lnTo>
                  <a:lnTo>
                    <a:pt x="1016963" y="1133435"/>
                  </a:lnTo>
                  <a:lnTo>
                    <a:pt x="0" y="1133435"/>
                  </a:lnTo>
                  <a:close/>
                </a:path>
              </a:pathLst>
            </a:custGeom>
            <a:blipFill>
              <a:blip r:embed="rId4"/>
              <a:stretch>
                <a:fillRect l="-12264" t="-38619" r="-18339" b="-1303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4058568" y="4305299"/>
            <a:ext cx="13362005" cy="4574635"/>
            <a:chOff x="0" y="0"/>
            <a:chExt cx="656107" cy="2246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56107" cy="224626"/>
            </a:xfrm>
            <a:custGeom>
              <a:avLst/>
              <a:gdLst/>
              <a:ahLst/>
              <a:cxnLst/>
              <a:rect l="l" t="t" r="r" b="b"/>
              <a:pathLst>
                <a:path w="656107" h="224626">
                  <a:moveTo>
                    <a:pt x="0" y="0"/>
                  </a:moveTo>
                  <a:lnTo>
                    <a:pt x="656107" y="0"/>
                  </a:lnTo>
                  <a:lnTo>
                    <a:pt x="656107" y="224626"/>
                  </a:lnTo>
                  <a:lnTo>
                    <a:pt x="0" y="224626"/>
                  </a:lnTo>
                  <a:close/>
                </a:path>
              </a:pathLst>
            </a:custGeom>
            <a:solidFill>
              <a:srgbClr val="49713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47625"/>
              <a:ext cx="656107" cy="1770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463229" y="765810"/>
            <a:ext cx="1276489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5273C8-E1CB-4242-9732-21C393586794}"/>
              </a:ext>
            </a:extLst>
          </p:cNvPr>
          <p:cNvSpPr txBox="1"/>
          <p:nvPr/>
        </p:nvSpPr>
        <p:spPr>
          <a:xfrm>
            <a:off x="7100887" y="2252053"/>
            <a:ext cx="10134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4400" err="1">
                <a:solidFill>
                  <a:schemeClr val="bg1"/>
                </a:solidFill>
                <a:cs typeface="B Nazanin" panose="00000400000000000000" pitchFamily="2" charset="-78"/>
              </a:rPr>
              <a:t>سوال</a:t>
            </a:r>
            <a:r>
              <a:rPr lang="en-US" sz="4400">
                <a:solidFill>
                  <a:schemeClr val="bg1"/>
                </a:solidFill>
                <a:cs typeface="B Nazanin" panose="00000400000000000000" pitchFamily="2" charset="-78"/>
              </a:rPr>
              <a:t> ۱:</a:t>
            </a:r>
            <a:r>
              <a:rPr lang="fa-IR" sz="440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4400">
                <a:solidFill>
                  <a:schemeClr val="bg1"/>
                </a:solidFill>
                <a:cs typeface="B Nazanin" panose="00000400000000000000" pitchFamily="2" charset="-78"/>
              </a:rPr>
              <a:t>چند </a:t>
            </a:r>
            <a:r>
              <a:rPr lang="en-US" sz="4400" err="1">
                <a:solidFill>
                  <a:schemeClr val="bg1"/>
                </a:solidFill>
                <a:cs typeface="B Nazanin" panose="00000400000000000000" pitchFamily="2" charset="-78"/>
              </a:rPr>
              <a:t>بازیکن</a:t>
            </a:r>
            <a:r>
              <a:rPr lang="en-US" sz="440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4400" err="1">
                <a:solidFill>
                  <a:schemeClr val="bg1"/>
                </a:solidFill>
                <a:cs typeface="B Nazanin" panose="00000400000000000000" pitchFamily="2" charset="-78"/>
              </a:rPr>
              <a:t>تنیس</a:t>
            </a:r>
            <a:r>
              <a:rPr lang="en-US" sz="440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4400" err="1">
                <a:solidFill>
                  <a:schemeClr val="bg1"/>
                </a:solidFill>
                <a:cs typeface="B Nazanin" panose="00000400000000000000" pitchFamily="2" charset="-78"/>
              </a:rPr>
              <a:t>در</a:t>
            </a:r>
            <a:r>
              <a:rPr lang="en-US" sz="440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4400" err="1">
                <a:solidFill>
                  <a:schemeClr val="bg1"/>
                </a:solidFill>
                <a:cs typeface="B Nazanin" panose="00000400000000000000" pitchFamily="2" charset="-78"/>
              </a:rPr>
              <a:t>مجموعه</a:t>
            </a:r>
            <a:r>
              <a:rPr lang="en-US" sz="440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4400" err="1">
                <a:solidFill>
                  <a:schemeClr val="bg1"/>
                </a:solidFill>
                <a:cs typeface="B Nazanin" panose="00000400000000000000" pitchFamily="2" charset="-78"/>
              </a:rPr>
              <a:t>داده‌ها</a:t>
            </a:r>
            <a:r>
              <a:rPr lang="en-US" sz="4400">
                <a:solidFill>
                  <a:schemeClr val="bg1"/>
                </a:solidFill>
                <a:cs typeface="B Nazanin" panose="00000400000000000000" pitchFamily="2" charset="-78"/>
              </a:rPr>
              <a:t> وجود </a:t>
            </a:r>
            <a:r>
              <a:rPr lang="en-US" sz="4400" err="1">
                <a:solidFill>
                  <a:schemeClr val="bg1"/>
                </a:solidFill>
                <a:cs typeface="B Nazanin" panose="00000400000000000000" pitchFamily="2" charset="-78"/>
              </a:rPr>
              <a:t>دارد</a:t>
            </a:r>
            <a:r>
              <a:rPr lang="en-US" sz="4400">
                <a:solidFill>
                  <a:schemeClr val="bg1"/>
                </a:solidFill>
                <a:cs typeface="B Nazanin" panose="00000400000000000000" pitchFamily="2" charset="-78"/>
              </a:rPr>
              <a:t>؟</a:t>
            </a:r>
            <a:endParaRPr lang="fa-IR" sz="4400">
              <a:solidFill>
                <a:schemeClr val="bg1"/>
              </a:solidFill>
              <a:cs typeface="B Nazanin" panose="00000400000000000000" pitchFamily="2" charset="-78"/>
            </a:endParaRPr>
          </a:p>
          <a:p>
            <a:pPr algn="ctr" rtl="1"/>
            <a:endParaRPr lang="fa-IR" sz="3200">
              <a:solidFill>
                <a:schemeClr val="bg1"/>
              </a:solidFill>
              <a:cs typeface="B Nazanin" panose="00000400000000000000" pitchFamily="2" charset="-78"/>
            </a:endParaRPr>
          </a:p>
          <a:p>
            <a:pPr algn="r" rtl="1"/>
            <a:r>
              <a:rPr lang="fa-IR" sz="3200">
                <a:solidFill>
                  <a:schemeClr val="bg1"/>
                </a:solidFill>
                <a:cs typeface="B Nazanin" panose="00000400000000000000" pitchFamily="2" charset="-78"/>
              </a:rPr>
              <a:t> ۲۶۴۳ تعداد کل بازیکنان ثبت شده در دیتا</a:t>
            </a:r>
            <a:endParaRPr lang="en-US" sz="320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3A8850-433E-4EEB-B960-F49C6E1F7D06}"/>
              </a:ext>
            </a:extLst>
          </p:cNvPr>
          <p:cNvSpPr txBox="1"/>
          <p:nvPr/>
        </p:nvSpPr>
        <p:spPr>
          <a:xfrm>
            <a:off x="6911941" y="5375007"/>
            <a:ext cx="101346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4400">
                <a:solidFill>
                  <a:schemeClr val="bg1"/>
                </a:solidFill>
                <a:cs typeface="B Nazanin" panose="00000400000000000000" pitchFamily="2" charset="-78"/>
              </a:rPr>
              <a:t>سوال ۲: میانگین قد بازیکنان چقدر است؟</a:t>
            </a:r>
            <a:endParaRPr lang="en-US" sz="440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647365F2-9FF2-49AD-AD00-C4801B4FE4BE}"/>
              </a:ext>
            </a:extLst>
          </p:cNvPr>
          <p:cNvSpPr/>
          <p:nvPr/>
        </p:nvSpPr>
        <p:spPr>
          <a:xfrm>
            <a:off x="10439400" y="6502587"/>
            <a:ext cx="8765500" cy="7018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 ۱۸۲ سانتی‌متر</a:t>
            </a:r>
            <a:r>
              <a:rPr lang="fa-IR" sz="320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 میانگین قد بازیکنان</a:t>
            </a:r>
            <a:endParaRPr lang="en-US" sz="32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B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7427" y="631804"/>
            <a:ext cx="16553146" cy="483278"/>
            <a:chOff x="0" y="0"/>
            <a:chExt cx="13919925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19926" cy="406400"/>
            </a:xfrm>
            <a:custGeom>
              <a:avLst/>
              <a:gdLst/>
              <a:ahLst/>
              <a:cxnLst/>
              <a:rect l="l" t="t" r="r" b="b"/>
              <a:pathLst>
                <a:path w="13919926" h="406400">
                  <a:moveTo>
                    <a:pt x="13716726" y="0"/>
                  </a:moveTo>
                  <a:cubicBezTo>
                    <a:pt x="13828950" y="0"/>
                    <a:pt x="13919926" y="90976"/>
                    <a:pt x="13919926" y="203200"/>
                  </a:cubicBezTo>
                  <a:cubicBezTo>
                    <a:pt x="13919926" y="315424"/>
                    <a:pt x="13828950" y="406400"/>
                    <a:pt x="137167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13919925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843308" y="754318"/>
            <a:ext cx="415992" cy="238250"/>
          </a:xfrm>
          <a:custGeom>
            <a:avLst/>
            <a:gdLst/>
            <a:ahLst/>
            <a:cxnLst/>
            <a:rect l="l" t="t" r="r" b="b"/>
            <a:pathLst>
              <a:path w="415992" h="238250">
                <a:moveTo>
                  <a:pt x="0" y="0"/>
                </a:moveTo>
                <a:lnTo>
                  <a:pt x="415992" y="0"/>
                </a:lnTo>
                <a:lnTo>
                  <a:pt x="415992" y="238250"/>
                </a:lnTo>
                <a:lnTo>
                  <a:pt x="0" y="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-62658" y="9776272"/>
            <a:ext cx="18350658" cy="0"/>
          </a:xfrm>
          <a:prstGeom prst="line">
            <a:avLst/>
          </a:prstGeom>
          <a:ln w="2857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101369" y="5241084"/>
            <a:ext cx="16022604" cy="401721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099"/>
              </a:lnSpc>
            </a:pPr>
            <a:endParaRPr/>
          </a:p>
        </p:txBody>
      </p:sp>
      <p:grpSp>
        <p:nvGrpSpPr>
          <p:cNvPr id="10" name="Group 10"/>
          <p:cNvGrpSpPr/>
          <p:nvPr/>
        </p:nvGrpSpPr>
        <p:grpSpPr>
          <a:xfrm>
            <a:off x="9419958" y="1666609"/>
            <a:ext cx="8868042" cy="3115505"/>
            <a:chOff x="0" y="0"/>
            <a:chExt cx="1672216" cy="482673"/>
          </a:xfrm>
        </p:grpSpPr>
        <p:sp>
          <p:nvSpPr>
            <p:cNvPr id="11" name="Freeform 11"/>
            <p:cNvSpPr/>
            <p:nvPr/>
          </p:nvSpPr>
          <p:spPr>
            <a:xfrm rot="-5400000" flipH="1">
              <a:off x="594771" y="-594771"/>
              <a:ext cx="482673" cy="1672216"/>
            </a:xfrm>
            <a:custGeom>
              <a:avLst/>
              <a:gdLst/>
              <a:ahLst/>
              <a:cxnLst/>
              <a:rect l="l" t="t" r="r" b="b"/>
              <a:pathLst>
                <a:path w="482673" h="1672216">
                  <a:moveTo>
                    <a:pt x="0" y="0"/>
                  </a:moveTo>
                  <a:lnTo>
                    <a:pt x="0" y="1672216"/>
                  </a:lnTo>
                  <a:lnTo>
                    <a:pt x="482674" y="1672216"/>
                  </a:lnTo>
                  <a:lnTo>
                    <a:pt x="482674" y="0"/>
                  </a:lnTo>
                  <a:close/>
                </a:path>
              </a:pathLst>
            </a:custGeom>
            <a:blipFill>
              <a:blip r:embed="rId4"/>
              <a:stretch>
                <a:fillRect l="-32630" r="-98191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15463229" y="765810"/>
            <a:ext cx="1276489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717E166-6C9F-4F7A-9072-3D405AC44B83}"/>
              </a:ext>
            </a:extLst>
          </p:cNvPr>
          <p:cNvSpPr txBox="1"/>
          <p:nvPr/>
        </p:nvSpPr>
        <p:spPr>
          <a:xfrm>
            <a:off x="-232855" y="2308407"/>
            <a:ext cx="92490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4400">
                <a:solidFill>
                  <a:schemeClr val="bg1"/>
                </a:solidFill>
                <a:cs typeface="B Nazanin" panose="00000400000000000000" pitchFamily="2" charset="-78"/>
              </a:rPr>
              <a:t>سوال ۳</a:t>
            </a:r>
            <a:r>
              <a:rPr lang="fa-IR" sz="4400">
                <a:solidFill>
                  <a:schemeClr val="bg1"/>
                </a:solidFill>
                <a:cs typeface="B Nazanin" panose="00000400000000000000" pitchFamily="2" charset="-78"/>
              </a:rPr>
              <a:t>: </a:t>
            </a:r>
            <a:r>
              <a:rPr lang="en-US" sz="4400">
                <a:solidFill>
                  <a:schemeClr val="bg1"/>
                </a:solidFill>
                <a:cs typeface="B Nazanin" panose="00000400000000000000" pitchFamily="2" charset="-78"/>
              </a:rPr>
              <a:t>کدام بازیکن بیشترین تعداد برد را دارد؟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68D0158-45E8-4928-BBEC-974DA18AC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595821"/>
            <a:ext cx="11201400" cy="5619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 6">
            <a:extLst>
              <a:ext uri="{FF2B5EF4-FFF2-40B4-BE49-F238E27FC236}">
                <a16:creationId xmlns:a16="http://schemas.microsoft.com/office/drawing/2014/main" id="{58335474-09C1-4BD5-BF16-E53609FFEFF3}"/>
              </a:ext>
            </a:extLst>
          </p:cNvPr>
          <p:cNvSpPr/>
          <p:nvPr/>
        </p:nvSpPr>
        <p:spPr>
          <a:xfrm>
            <a:off x="12067689" y="5986722"/>
            <a:ext cx="5118942" cy="2312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en-US" sz="330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 Popko</a:t>
            </a:r>
            <a:r>
              <a:rPr lang="en-US" sz="33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, Dmitry با ۲۹ برد، بیشترین تعداد پیروزی فردی در دیتاست را به‌ثبت رسانده است.</a:t>
            </a:r>
            <a:endParaRPr lang="en-US" sz="3300" dirty="0">
              <a:solidFill>
                <a:schemeClr val="bg1"/>
              </a:solidFill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A2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7427" y="631804"/>
            <a:ext cx="16553146" cy="483278"/>
            <a:chOff x="0" y="0"/>
            <a:chExt cx="13919925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19926" cy="406400"/>
            </a:xfrm>
            <a:custGeom>
              <a:avLst/>
              <a:gdLst/>
              <a:ahLst/>
              <a:cxnLst/>
              <a:rect l="l" t="t" r="r" b="b"/>
              <a:pathLst>
                <a:path w="13919926" h="406400">
                  <a:moveTo>
                    <a:pt x="13716726" y="0"/>
                  </a:moveTo>
                  <a:cubicBezTo>
                    <a:pt x="13828950" y="0"/>
                    <a:pt x="13919926" y="90976"/>
                    <a:pt x="13919926" y="203200"/>
                  </a:cubicBezTo>
                  <a:cubicBezTo>
                    <a:pt x="13919926" y="315424"/>
                    <a:pt x="13828950" y="406400"/>
                    <a:pt x="137167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13919925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843308" y="754318"/>
            <a:ext cx="415992" cy="238250"/>
          </a:xfrm>
          <a:custGeom>
            <a:avLst/>
            <a:gdLst/>
            <a:ahLst/>
            <a:cxnLst/>
            <a:rect l="l" t="t" r="r" b="b"/>
            <a:pathLst>
              <a:path w="415992" h="238250">
                <a:moveTo>
                  <a:pt x="0" y="0"/>
                </a:moveTo>
                <a:lnTo>
                  <a:pt x="415992" y="0"/>
                </a:lnTo>
                <a:lnTo>
                  <a:pt x="415992" y="238250"/>
                </a:lnTo>
                <a:lnTo>
                  <a:pt x="0" y="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-62658" y="9776272"/>
            <a:ext cx="18350658" cy="0"/>
          </a:xfrm>
          <a:prstGeom prst="line">
            <a:avLst/>
          </a:prstGeom>
          <a:ln w="2857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-23813" y="1600130"/>
            <a:ext cx="5181600" cy="5563366"/>
            <a:chOff x="0" y="0"/>
            <a:chExt cx="827031" cy="936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27031" cy="936800"/>
            </a:xfrm>
            <a:custGeom>
              <a:avLst/>
              <a:gdLst/>
              <a:ahLst/>
              <a:cxnLst/>
              <a:rect l="l" t="t" r="r" b="b"/>
              <a:pathLst>
                <a:path w="827031" h="936800">
                  <a:moveTo>
                    <a:pt x="0" y="0"/>
                  </a:moveTo>
                  <a:lnTo>
                    <a:pt x="827031" y="0"/>
                  </a:lnTo>
                  <a:lnTo>
                    <a:pt x="827031" y="936800"/>
                  </a:lnTo>
                  <a:lnTo>
                    <a:pt x="0" y="936800"/>
                  </a:lnTo>
                  <a:close/>
                </a:path>
              </a:pathLst>
            </a:custGeom>
            <a:blipFill>
              <a:blip r:embed="rId4"/>
              <a:stretch>
                <a:fillRect t="-16253" b="-16253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5463229" y="765810"/>
            <a:ext cx="1276489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05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C8C40F0-E1B6-4CCA-8F81-449883F0D2C8}"/>
              </a:ext>
            </a:extLst>
          </p:cNvPr>
          <p:cNvSpPr txBox="1"/>
          <p:nvPr/>
        </p:nvSpPr>
        <p:spPr>
          <a:xfrm>
            <a:off x="3582590" y="1799675"/>
            <a:ext cx="1383798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en-US" sz="4400">
                <a:solidFill>
                  <a:schemeClr val="bg1"/>
                </a:solidFill>
                <a:cs typeface="B Nazanin" panose="00000400000000000000" pitchFamily="2" charset="-78"/>
              </a:rPr>
              <a:t>سوال ۴:</a:t>
            </a:r>
            <a:r>
              <a:rPr lang="fa-IR" sz="4400">
                <a:solidFill>
                  <a:schemeClr val="bg1"/>
                </a:solidFill>
                <a:cs typeface="B Nazanin" panose="00000400000000000000" pitchFamily="2" charset="-78"/>
              </a:rPr>
              <a:t> </a:t>
            </a:r>
            <a:r>
              <a:rPr lang="en-US" sz="4400">
                <a:solidFill>
                  <a:schemeClr val="bg1"/>
                </a:solidFill>
                <a:cs typeface="B Nazanin" panose="00000400000000000000" pitchFamily="2" charset="-78"/>
              </a:rPr>
              <a:t> طولانی‌ترین مسابقه ثبت شده از نظر مدت زمان چقدر است؟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16B704C-E59C-497C-86CA-C208CFC22C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3049400"/>
            <a:ext cx="11781773" cy="623706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B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7427" y="631804"/>
            <a:ext cx="16553146" cy="483278"/>
            <a:chOff x="0" y="0"/>
            <a:chExt cx="13919925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19926" cy="406400"/>
            </a:xfrm>
            <a:custGeom>
              <a:avLst/>
              <a:gdLst/>
              <a:ahLst/>
              <a:cxnLst/>
              <a:rect l="l" t="t" r="r" b="b"/>
              <a:pathLst>
                <a:path w="13919926" h="406400">
                  <a:moveTo>
                    <a:pt x="13716726" y="0"/>
                  </a:moveTo>
                  <a:cubicBezTo>
                    <a:pt x="13828950" y="0"/>
                    <a:pt x="13919926" y="90976"/>
                    <a:pt x="13919926" y="203200"/>
                  </a:cubicBezTo>
                  <a:cubicBezTo>
                    <a:pt x="13919926" y="315424"/>
                    <a:pt x="13828950" y="406400"/>
                    <a:pt x="137167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13919925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843308" y="754318"/>
            <a:ext cx="415992" cy="238250"/>
          </a:xfrm>
          <a:custGeom>
            <a:avLst/>
            <a:gdLst/>
            <a:ahLst/>
            <a:cxnLst/>
            <a:rect l="l" t="t" r="r" b="b"/>
            <a:pathLst>
              <a:path w="415992" h="238250">
                <a:moveTo>
                  <a:pt x="0" y="0"/>
                </a:moveTo>
                <a:lnTo>
                  <a:pt x="415992" y="0"/>
                </a:lnTo>
                <a:lnTo>
                  <a:pt x="415992" y="238250"/>
                </a:lnTo>
                <a:lnTo>
                  <a:pt x="0" y="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-62658" y="9776272"/>
            <a:ext cx="18350658" cy="0"/>
          </a:xfrm>
          <a:prstGeom prst="line">
            <a:avLst/>
          </a:prstGeom>
          <a:ln w="2857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1084392" y="4653120"/>
            <a:ext cx="7010400" cy="3614580"/>
            <a:chOff x="0" y="0"/>
            <a:chExt cx="452307" cy="16148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52307" cy="161485"/>
            </a:xfrm>
            <a:custGeom>
              <a:avLst/>
              <a:gdLst/>
              <a:ahLst/>
              <a:cxnLst/>
              <a:rect l="l" t="t" r="r" b="b"/>
              <a:pathLst>
                <a:path w="452307" h="161485">
                  <a:moveTo>
                    <a:pt x="0" y="0"/>
                  </a:moveTo>
                  <a:lnTo>
                    <a:pt x="452307" y="0"/>
                  </a:lnTo>
                  <a:lnTo>
                    <a:pt x="452307" y="161485"/>
                  </a:lnTo>
                  <a:lnTo>
                    <a:pt x="0" y="161485"/>
                  </a:lnTo>
                  <a:close/>
                </a:path>
              </a:pathLst>
            </a:custGeom>
            <a:solidFill>
              <a:srgbClr val="30678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47625"/>
              <a:ext cx="452307" cy="1138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5463229" y="765810"/>
            <a:ext cx="1276489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06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4F4B56-FF40-4704-BA78-A30ABC738F5C}"/>
              </a:ext>
            </a:extLst>
          </p:cNvPr>
          <p:cNvSpPr txBox="1"/>
          <p:nvPr/>
        </p:nvSpPr>
        <p:spPr>
          <a:xfrm>
            <a:off x="6629400" y="1539114"/>
            <a:ext cx="11049000" cy="1023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4400">
                <a:solidFill>
                  <a:schemeClr val="bg1"/>
                </a:solidFill>
                <a:cs typeface="B Nazanin" panose="00000400000000000000" pitchFamily="2" charset="-78"/>
              </a:rPr>
              <a:t>سوال</a:t>
            </a:r>
            <a:r>
              <a:rPr lang="fa-IR" sz="4400">
                <a:solidFill>
                  <a:schemeClr val="bg1"/>
                </a:solidFill>
                <a:cs typeface="B Nazanin" panose="00000400000000000000" pitchFamily="2" charset="-78"/>
              </a:rPr>
              <a:t>۵ : </a:t>
            </a:r>
            <a:r>
              <a:rPr lang="en-US" sz="4400">
                <a:solidFill>
                  <a:schemeClr val="bg1"/>
                </a:solidFill>
                <a:cs typeface="B Nazanin" panose="00000400000000000000" pitchFamily="2" charset="-78"/>
              </a:rPr>
              <a:t>معمولاً در یک مسابقه تنیس چند ست بازی می‌شود؟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248043-8106-44AA-80D0-57A84551D397}"/>
              </a:ext>
            </a:extLst>
          </p:cNvPr>
          <p:cNvSpPr txBox="1"/>
          <p:nvPr/>
        </p:nvSpPr>
        <p:spPr>
          <a:xfrm>
            <a:off x="11084392" y="5364304"/>
            <a:ext cx="6862110" cy="203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en-US" sz="4400">
                <a:solidFill>
                  <a:schemeClr val="bg1"/>
                </a:solidFill>
                <a:cs typeface="B Nazanin" panose="00000400000000000000" pitchFamily="2" charset="-78"/>
              </a:rPr>
              <a:t>سوال</a:t>
            </a:r>
            <a:r>
              <a:rPr lang="fa-IR" sz="4400">
                <a:solidFill>
                  <a:schemeClr val="bg1"/>
                </a:solidFill>
                <a:cs typeface="B Nazanin" panose="00000400000000000000" pitchFamily="2" charset="-78"/>
              </a:rPr>
              <a:t>۶ :</a:t>
            </a:r>
            <a:r>
              <a:rPr lang="en-US" sz="4400">
                <a:solidFill>
                  <a:schemeClr val="bg1"/>
                </a:solidFill>
                <a:cs typeface="B Nazanin" panose="00000400000000000000" pitchFamily="2" charset="-78"/>
              </a:rPr>
              <a:t> کدام کشور موفق‌ترین </a:t>
            </a:r>
            <a:r>
              <a:rPr lang="fa-IR" sz="4400">
                <a:solidFill>
                  <a:schemeClr val="bg1"/>
                </a:solidFill>
                <a:cs typeface="B Nazanin" panose="00000400000000000000" pitchFamily="2" charset="-78"/>
              </a:rPr>
              <a:t>بازیکنان تنیس</a:t>
            </a:r>
            <a:r>
              <a:rPr lang="en-US" sz="4400">
                <a:solidFill>
                  <a:schemeClr val="bg1"/>
                </a:solidFill>
                <a:cs typeface="B Nazanin" panose="00000400000000000000" pitchFamily="2" charset="-78"/>
              </a:rPr>
              <a:t> را تربیت کرده است؟</a:t>
            </a:r>
          </a:p>
        </p:txBody>
      </p:sp>
      <p:pic>
        <p:nvPicPr>
          <p:cNvPr id="23" name="Picture 2">
            <a:extLst>
              <a:ext uri="{FF2B5EF4-FFF2-40B4-BE49-F238E27FC236}">
                <a16:creationId xmlns:a16="http://schemas.microsoft.com/office/drawing/2014/main" id="{D7871701-9027-4CFD-A845-2261CDA5F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579572"/>
            <a:ext cx="10777466" cy="5608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E563543-3D6A-473B-933C-C70E8634273C}"/>
              </a:ext>
            </a:extLst>
          </p:cNvPr>
          <p:cNvSpPr txBox="1"/>
          <p:nvPr/>
        </p:nvSpPr>
        <p:spPr>
          <a:xfrm>
            <a:off x="-2712570" y="1703297"/>
            <a:ext cx="924401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fa-IR" sz="3200">
                <a:solidFill>
                  <a:schemeClr val="bg1"/>
                </a:solidFill>
                <a:cs typeface="B Nazanin" panose="00000400000000000000" pitchFamily="2" charset="-78"/>
              </a:rPr>
              <a:t>رایج‌ترین: ۲ ست (روی ۹۴۲۶ مسابقه)</a:t>
            </a:r>
          </a:p>
          <a:p>
            <a:pPr algn="r">
              <a:lnSpc>
                <a:spcPct val="150000"/>
              </a:lnSpc>
            </a:pPr>
            <a:r>
              <a:rPr lang="fa-IR" sz="3200">
                <a:solidFill>
                  <a:schemeClr val="bg1"/>
                </a:solidFill>
                <a:cs typeface="B Nazanin" panose="00000400000000000000" pitchFamily="2" charset="-78"/>
              </a:rPr>
              <a:t>میانگین: ۲.۲۸ ست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A2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7427" y="631804"/>
            <a:ext cx="16553146" cy="483278"/>
            <a:chOff x="0" y="0"/>
            <a:chExt cx="13919925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19926" cy="406400"/>
            </a:xfrm>
            <a:custGeom>
              <a:avLst/>
              <a:gdLst/>
              <a:ahLst/>
              <a:cxnLst/>
              <a:rect l="l" t="t" r="r" b="b"/>
              <a:pathLst>
                <a:path w="13919926" h="406400">
                  <a:moveTo>
                    <a:pt x="13716726" y="0"/>
                  </a:moveTo>
                  <a:cubicBezTo>
                    <a:pt x="13828950" y="0"/>
                    <a:pt x="13919926" y="90976"/>
                    <a:pt x="13919926" y="203200"/>
                  </a:cubicBezTo>
                  <a:cubicBezTo>
                    <a:pt x="13919926" y="315424"/>
                    <a:pt x="13828950" y="406400"/>
                    <a:pt x="137167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13919925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843308" y="754318"/>
            <a:ext cx="415992" cy="238250"/>
          </a:xfrm>
          <a:custGeom>
            <a:avLst/>
            <a:gdLst/>
            <a:ahLst/>
            <a:cxnLst/>
            <a:rect l="l" t="t" r="r" b="b"/>
            <a:pathLst>
              <a:path w="415992" h="238250">
                <a:moveTo>
                  <a:pt x="0" y="0"/>
                </a:moveTo>
                <a:lnTo>
                  <a:pt x="415992" y="0"/>
                </a:lnTo>
                <a:lnTo>
                  <a:pt x="415992" y="238250"/>
                </a:lnTo>
                <a:lnTo>
                  <a:pt x="0" y="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-62658" y="9776272"/>
            <a:ext cx="18350658" cy="0"/>
          </a:xfrm>
          <a:prstGeom prst="line">
            <a:avLst/>
          </a:prstGeom>
          <a:ln w="2857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9753600" y="1561563"/>
            <a:ext cx="7505700" cy="7696737"/>
            <a:chOff x="0" y="0"/>
            <a:chExt cx="448397" cy="37792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8397" cy="377929"/>
            </a:xfrm>
            <a:custGeom>
              <a:avLst/>
              <a:gdLst/>
              <a:ahLst/>
              <a:cxnLst/>
              <a:rect l="l" t="t" r="r" b="b"/>
              <a:pathLst>
                <a:path w="448397" h="377929">
                  <a:moveTo>
                    <a:pt x="0" y="0"/>
                  </a:moveTo>
                  <a:lnTo>
                    <a:pt x="448397" y="0"/>
                  </a:lnTo>
                  <a:lnTo>
                    <a:pt x="448397" y="377929"/>
                  </a:lnTo>
                  <a:lnTo>
                    <a:pt x="0" y="377929"/>
                  </a:lnTo>
                  <a:close/>
                </a:path>
              </a:pathLst>
            </a:custGeom>
            <a:solidFill>
              <a:srgbClr val="49713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47625"/>
              <a:ext cx="448397" cy="33030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463229" y="765810"/>
            <a:ext cx="1276489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B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7427" y="631804"/>
            <a:ext cx="16553146" cy="483278"/>
            <a:chOff x="0" y="0"/>
            <a:chExt cx="13919925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19926" cy="406400"/>
            </a:xfrm>
            <a:custGeom>
              <a:avLst/>
              <a:gdLst/>
              <a:ahLst/>
              <a:cxnLst/>
              <a:rect l="l" t="t" r="r" b="b"/>
              <a:pathLst>
                <a:path w="13919926" h="406400">
                  <a:moveTo>
                    <a:pt x="13716726" y="0"/>
                  </a:moveTo>
                  <a:cubicBezTo>
                    <a:pt x="13828950" y="0"/>
                    <a:pt x="13919926" y="90976"/>
                    <a:pt x="13919926" y="203200"/>
                  </a:cubicBezTo>
                  <a:cubicBezTo>
                    <a:pt x="13919926" y="315424"/>
                    <a:pt x="13828950" y="406400"/>
                    <a:pt x="137167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13919925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843308" y="754318"/>
            <a:ext cx="415992" cy="238250"/>
          </a:xfrm>
          <a:custGeom>
            <a:avLst/>
            <a:gdLst/>
            <a:ahLst/>
            <a:cxnLst/>
            <a:rect l="l" t="t" r="r" b="b"/>
            <a:pathLst>
              <a:path w="415992" h="238250">
                <a:moveTo>
                  <a:pt x="0" y="0"/>
                </a:moveTo>
                <a:lnTo>
                  <a:pt x="415992" y="0"/>
                </a:lnTo>
                <a:lnTo>
                  <a:pt x="415992" y="238250"/>
                </a:lnTo>
                <a:lnTo>
                  <a:pt x="0" y="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-62658" y="9776272"/>
            <a:ext cx="18350658" cy="0"/>
          </a:xfrm>
          <a:prstGeom prst="line">
            <a:avLst/>
          </a:prstGeom>
          <a:ln w="2857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028700" y="4233495"/>
            <a:ext cx="10109420" cy="4114800"/>
            <a:chOff x="0" y="0"/>
            <a:chExt cx="1566214" cy="6374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66214" cy="637490"/>
            </a:xfrm>
            <a:custGeom>
              <a:avLst/>
              <a:gdLst/>
              <a:ahLst/>
              <a:cxnLst/>
              <a:rect l="l" t="t" r="r" b="b"/>
              <a:pathLst>
                <a:path w="1566214" h="637490">
                  <a:moveTo>
                    <a:pt x="0" y="0"/>
                  </a:moveTo>
                  <a:lnTo>
                    <a:pt x="1566214" y="0"/>
                  </a:lnTo>
                  <a:lnTo>
                    <a:pt x="1566214" y="637490"/>
                  </a:lnTo>
                  <a:lnTo>
                    <a:pt x="0" y="637490"/>
                  </a:lnTo>
                  <a:close/>
                </a:path>
              </a:pathLst>
            </a:custGeom>
            <a:blipFill>
              <a:blip r:embed="rId4"/>
              <a:stretch>
                <a:fillRect t="-31843" b="-31843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8047795" y="5807458"/>
            <a:ext cx="9211505" cy="3450842"/>
            <a:chOff x="0" y="0"/>
            <a:chExt cx="452307" cy="1694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52307" cy="169445"/>
            </a:xfrm>
            <a:custGeom>
              <a:avLst/>
              <a:gdLst/>
              <a:ahLst/>
              <a:cxnLst/>
              <a:rect l="l" t="t" r="r" b="b"/>
              <a:pathLst>
                <a:path w="452307" h="169445">
                  <a:moveTo>
                    <a:pt x="0" y="0"/>
                  </a:moveTo>
                  <a:lnTo>
                    <a:pt x="452307" y="0"/>
                  </a:lnTo>
                  <a:lnTo>
                    <a:pt x="452307" y="169445"/>
                  </a:lnTo>
                  <a:lnTo>
                    <a:pt x="0" y="169445"/>
                  </a:lnTo>
                  <a:close/>
                </a:path>
              </a:pathLst>
            </a:custGeom>
            <a:solidFill>
              <a:srgbClr val="30678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47625"/>
              <a:ext cx="452307" cy="12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364361" y="1692658"/>
            <a:ext cx="4894939" cy="3450842"/>
            <a:chOff x="0" y="0"/>
            <a:chExt cx="758354" cy="5346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58354" cy="534626"/>
            </a:xfrm>
            <a:custGeom>
              <a:avLst/>
              <a:gdLst/>
              <a:ahLst/>
              <a:cxnLst/>
              <a:rect l="l" t="t" r="r" b="b"/>
              <a:pathLst>
                <a:path w="758354" h="534626">
                  <a:moveTo>
                    <a:pt x="0" y="0"/>
                  </a:moveTo>
                  <a:lnTo>
                    <a:pt x="758354" y="0"/>
                  </a:lnTo>
                  <a:lnTo>
                    <a:pt x="758354" y="534626"/>
                  </a:lnTo>
                  <a:lnTo>
                    <a:pt x="0" y="534626"/>
                  </a:lnTo>
                  <a:close/>
                </a:path>
              </a:pathLst>
            </a:custGeom>
            <a:blipFill>
              <a:blip r:embed="rId5"/>
              <a:stretch>
                <a:fillRect t="-3192" b="-3192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5463229" y="765810"/>
            <a:ext cx="1276489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A2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7427" y="631804"/>
            <a:ext cx="16553146" cy="483278"/>
            <a:chOff x="0" y="0"/>
            <a:chExt cx="13919925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19926" cy="406400"/>
            </a:xfrm>
            <a:custGeom>
              <a:avLst/>
              <a:gdLst/>
              <a:ahLst/>
              <a:cxnLst/>
              <a:rect l="l" t="t" r="r" b="b"/>
              <a:pathLst>
                <a:path w="13919926" h="406400">
                  <a:moveTo>
                    <a:pt x="13716726" y="0"/>
                  </a:moveTo>
                  <a:cubicBezTo>
                    <a:pt x="13828950" y="0"/>
                    <a:pt x="13919926" y="90976"/>
                    <a:pt x="13919926" y="203200"/>
                  </a:cubicBezTo>
                  <a:cubicBezTo>
                    <a:pt x="13919926" y="315424"/>
                    <a:pt x="13828950" y="406400"/>
                    <a:pt x="137167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13919925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843308" y="754318"/>
            <a:ext cx="415992" cy="238250"/>
          </a:xfrm>
          <a:custGeom>
            <a:avLst/>
            <a:gdLst/>
            <a:ahLst/>
            <a:cxnLst/>
            <a:rect l="l" t="t" r="r" b="b"/>
            <a:pathLst>
              <a:path w="415992" h="238250">
                <a:moveTo>
                  <a:pt x="0" y="0"/>
                </a:moveTo>
                <a:lnTo>
                  <a:pt x="415992" y="0"/>
                </a:lnTo>
                <a:lnTo>
                  <a:pt x="415992" y="238250"/>
                </a:lnTo>
                <a:lnTo>
                  <a:pt x="0" y="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-62658" y="9776272"/>
            <a:ext cx="18350658" cy="0"/>
          </a:xfrm>
          <a:prstGeom prst="line">
            <a:avLst/>
          </a:prstGeom>
          <a:ln w="2857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676802" y="3950446"/>
            <a:ext cx="16934397" cy="5510626"/>
            <a:chOff x="0" y="0"/>
            <a:chExt cx="831520" cy="2705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31520" cy="270585"/>
            </a:xfrm>
            <a:custGeom>
              <a:avLst/>
              <a:gdLst/>
              <a:ahLst/>
              <a:cxnLst/>
              <a:rect l="l" t="t" r="r" b="b"/>
              <a:pathLst>
                <a:path w="831520" h="270585">
                  <a:moveTo>
                    <a:pt x="0" y="0"/>
                  </a:moveTo>
                  <a:lnTo>
                    <a:pt x="831520" y="0"/>
                  </a:lnTo>
                  <a:lnTo>
                    <a:pt x="831520" y="270585"/>
                  </a:lnTo>
                  <a:lnTo>
                    <a:pt x="0" y="270585"/>
                  </a:lnTo>
                  <a:close/>
                </a:path>
              </a:pathLst>
            </a:custGeom>
            <a:solidFill>
              <a:srgbClr val="49713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47625"/>
              <a:ext cx="831520" cy="222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463229" y="765810"/>
            <a:ext cx="1276489" cy="26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3B0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7427" y="631804"/>
            <a:ext cx="16553146" cy="483278"/>
            <a:chOff x="0" y="0"/>
            <a:chExt cx="13919925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19926" cy="406400"/>
            </a:xfrm>
            <a:custGeom>
              <a:avLst/>
              <a:gdLst/>
              <a:ahLst/>
              <a:cxnLst/>
              <a:rect l="l" t="t" r="r" b="b"/>
              <a:pathLst>
                <a:path w="13919926" h="406400">
                  <a:moveTo>
                    <a:pt x="13716726" y="0"/>
                  </a:moveTo>
                  <a:cubicBezTo>
                    <a:pt x="13828950" y="0"/>
                    <a:pt x="13919926" y="90976"/>
                    <a:pt x="13919926" y="203200"/>
                  </a:cubicBezTo>
                  <a:cubicBezTo>
                    <a:pt x="13919926" y="315424"/>
                    <a:pt x="13828950" y="406400"/>
                    <a:pt x="137167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13919925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843308" y="754318"/>
            <a:ext cx="415992" cy="238250"/>
          </a:xfrm>
          <a:custGeom>
            <a:avLst/>
            <a:gdLst/>
            <a:ahLst/>
            <a:cxnLst/>
            <a:rect l="l" t="t" r="r" b="b"/>
            <a:pathLst>
              <a:path w="415992" h="238250">
                <a:moveTo>
                  <a:pt x="0" y="0"/>
                </a:moveTo>
                <a:lnTo>
                  <a:pt x="415992" y="0"/>
                </a:lnTo>
                <a:lnTo>
                  <a:pt x="415992" y="238250"/>
                </a:lnTo>
                <a:lnTo>
                  <a:pt x="0" y="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-62658" y="9776272"/>
            <a:ext cx="18350658" cy="0"/>
          </a:xfrm>
          <a:prstGeom prst="line">
            <a:avLst/>
          </a:prstGeom>
          <a:ln w="2857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028700" y="4233495"/>
            <a:ext cx="10109420" cy="4114800"/>
            <a:chOff x="0" y="0"/>
            <a:chExt cx="1566214" cy="6374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566214" cy="637490"/>
            </a:xfrm>
            <a:custGeom>
              <a:avLst/>
              <a:gdLst/>
              <a:ahLst/>
              <a:cxnLst/>
              <a:rect l="l" t="t" r="r" b="b"/>
              <a:pathLst>
                <a:path w="1566214" h="637490">
                  <a:moveTo>
                    <a:pt x="0" y="0"/>
                  </a:moveTo>
                  <a:lnTo>
                    <a:pt x="1566214" y="0"/>
                  </a:lnTo>
                  <a:lnTo>
                    <a:pt x="1566214" y="637490"/>
                  </a:lnTo>
                  <a:lnTo>
                    <a:pt x="0" y="637490"/>
                  </a:lnTo>
                  <a:close/>
                </a:path>
              </a:pathLst>
            </a:custGeom>
            <a:blipFill>
              <a:blip r:embed="rId4"/>
              <a:stretch>
                <a:fillRect t="-31843" b="-31843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8047795" y="5807458"/>
            <a:ext cx="9211505" cy="3450842"/>
            <a:chOff x="0" y="0"/>
            <a:chExt cx="452307" cy="16944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52307" cy="169445"/>
            </a:xfrm>
            <a:custGeom>
              <a:avLst/>
              <a:gdLst/>
              <a:ahLst/>
              <a:cxnLst/>
              <a:rect l="l" t="t" r="r" b="b"/>
              <a:pathLst>
                <a:path w="452307" h="169445">
                  <a:moveTo>
                    <a:pt x="0" y="0"/>
                  </a:moveTo>
                  <a:lnTo>
                    <a:pt x="452307" y="0"/>
                  </a:lnTo>
                  <a:lnTo>
                    <a:pt x="452307" y="169445"/>
                  </a:lnTo>
                  <a:lnTo>
                    <a:pt x="0" y="169445"/>
                  </a:lnTo>
                  <a:close/>
                </a:path>
              </a:pathLst>
            </a:custGeom>
            <a:solidFill>
              <a:srgbClr val="306781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47625"/>
              <a:ext cx="452307" cy="12182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364361" y="1692658"/>
            <a:ext cx="4894939" cy="3450842"/>
            <a:chOff x="0" y="0"/>
            <a:chExt cx="758354" cy="5346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58354" cy="534626"/>
            </a:xfrm>
            <a:custGeom>
              <a:avLst/>
              <a:gdLst/>
              <a:ahLst/>
              <a:cxnLst/>
              <a:rect l="l" t="t" r="r" b="b"/>
              <a:pathLst>
                <a:path w="758354" h="534626">
                  <a:moveTo>
                    <a:pt x="0" y="0"/>
                  </a:moveTo>
                  <a:lnTo>
                    <a:pt x="758354" y="0"/>
                  </a:lnTo>
                  <a:lnTo>
                    <a:pt x="758354" y="534626"/>
                  </a:lnTo>
                  <a:lnTo>
                    <a:pt x="0" y="534626"/>
                  </a:lnTo>
                  <a:close/>
                </a:path>
              </a:pathLst>
            </a:custGeom>
            <a:blipFill>
              <a:blip r:embed="rId5"/>
              <a:stretch>
                <a:fillRect t="-3192" b="-3192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5463229" y="765810"/>
            <a:ext cx="127648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10</a:t>
            </a:r>
          </a:p>
        </p:txBody>
      </p:sp>
    </p:spTree>
    <p:extLst>
      <p:ext uri="{BB962C8B-B14F-4D97-AF65-F5344CB8AC3E}">
        <p14:creationId xmlns:p14="http://schemas.microsoft.com/office/powerpoint/2010/main" val="2031469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1A2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67427" y="631804"/>
            <a:ext cx="16553146" cy="483278"/>
            <a:chOff x="0" y="0"/>
            <a:chExt cx="13919925" cy="40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19926" cy="406400"/>
            </a:xfrm>
            <a:custGeom>
              <a:avLst/>
              <a:gdLst/>
              <a:ahLst/>
              <a:cxnLst/>
              <a:rect l="l" t="t" r="r" b="b"/>
              <a:pathLst>
                <a:path w="13919926" h="406400">
                  <a:moveTo>
                    <a:pt x="13716726" y="0"/>
                  </a:moveTo>
                  <a:cubicBezTo>
                    <a:pt x="13828950" y="0"/>
                    <a:pt x="13919926" y="90976"/>
                    <a:pt x="13919926" y="203200"/>
                  </a:cubicBezTo>
                  <a:cubicBezTo>
                    <a:pt x="13919926" y="315424"/>
                    <a:pt x="13828950" y="406400"/>
                    <a:pt x="137167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13919925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843308" y="754318"/>
            <a:ext cx="415992" cy="238250"/>
          </a:xfrm>
          <a:custGeom>
            <a:avLst/>
            <a:gdLst/>
            <a:ahLst/>
            <a:cxnLst/>
            <a:rect l="l" t="t" r="r" b="b"/>
            <a:pathLst>
              <a:path w="415992" h="238250">
                <a:moveTo>
                  <a:pt x="0" y="0"/>
                </a:moveTo>
                <a:lnTo>
                  <a:pt x="415992" y="0"/>
                </a:lnTo>
                <a:lnTo>
                  <a:pt x="415992" y="238250"/>
                </a:lnTo>
                <a:lnTo>
                  <a:pt x="0" y="238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-62658" y="9776272"/>
            <a:ext cx="18350658" cy="0"/>
          </a:xfrm>
          <a:prstGeom prst="line">
            <a:avLst/>
          </a:prstGeom>
          <a:ln w="2857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645472" y="1562100"/>
            <a:ext cx="16934397" cy="7892750"/>
            <a:chOff x="0" y="0"/>
            <a:chExt cx="831520" cy="2705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31520" cy="270585"/>
            </a:xfrm>
            <a:custGeom>
              <a:avLst/>
              <a:gdLst/>
              <a:ahLst/>
              <a:cxnLst/>
              <a:rect l="l" t="t" r="r" b="b"/>
              <a:pathLst>
                <a:path w="831520" h="270585">
                  <a:moveTo>
                    <a:pt x="0" y="0"/>
                  </a:moveTo>
                  <a:lnTo>
                    <a:pt x="831520" y="0"/>
                  </a:lnTo>
                  <a:lnTo>
                    <a:pt x="831520" y="270585"/>
                  </a:lnTo>
                  <a:lnTo>
                    <a:pt x="0" y="270585"/>
                  </a:lnTo>
                  <a:close/>
                </a:path>
              </a:pathLst>
            </a:custGeom>
            <a:solidFill>
              <a:srgbClr val="49713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47625"/>
              <a:ext cx="831520" cy="2229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5463229" y="765810"/>
            <a:ext cx="127648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11</a:t>
            </a: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A70C76C8-B18C-410F-8706-D7A0ABAEEB0A}"/>
              </a:ext>
            </a:extLst>
          </p:cNvPr>
          <p:cNvSpPr/>
          <p:nvPr/>
        </p:nvSpPr>
        <p:spPr>
          <a:xfrm>
            <a:off x="1340694" y="2036884"/>
            <a:ext cx="15606612" cy="1828800"/>
          </a:xfrm>
          <a:prstGeom prst="roundRect">
            <a:avLst>
              <a:gd name="adj" fmla="val 5000"/>
            </a:avLst>
          </a:prstGeom>
          <a:solidFill>
            <a:srgbClr val="F3F5EE"/>
          </a:solidFill>
          <a:ln/>
        </p:spPr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EC94B1EB-C18B-4AAD-B788-625C222D4DEB}"/>
              </a:ext>
            </a:extLst>
          </p:cNvPr>
          <p:cNvSpPr/>
          <p:nvPr/>
        </p:nvSpPr>
        <p:spPr>
          <a:xfrm>
            <a:off x="6445955" y="2341932"/>
            <a:ext cx="10222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63A26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آیا برد در ست اول، برد مسابقه را پیش‌بینی می‌کند؟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0D8A6BA3-1E46-4855-A305-B55BD88CFD77}"/>
              </a:ext>
            </a:extLst>
          </p:cNvPr>
          <p:cNvSpPr/>
          <p:nvPr/>
        </p:nvSpPr>
        <p:spPr>
          <a:xfrm>
            <a:off x="1046650" y="2974813"/>
            <a:ext cx="15606612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32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در ۸۴.۸٪ از مسابقات، برنده ست اول در نهایت برنده کل مسابقه هم </a:t>
            </a:r>
            <a:r>
              <a:rPr lang="en-US" sz="320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بوده است</a:t>
            </a:r>
            <a:r>
              <a:rPr lang="fa-IR" sz="320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.</a:t>
            </a:r>
            <a:r>
              <a:rPr lang="en-US" sz="320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 </a:t>
            </a:r>
            <a:r>
              <a:rPr lang="fa-IR" sz="320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(</a:t>
            </a:r>
            <a:r>
              <a:rPr lang="en-US" sz="320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نشانه‌ای </a:t>
            </a:r>
            <a:r>
              <a:rPr lang="en-US" sz="32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قوی از اهمیت </a:t>
            </a:r>
            <a:r>
              <a:rPr lang="en-US" sz="320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شروع خوب</a:t>
            </a:r>
            <a:r>
              <a:rPr lang="fa-IR" sz="320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)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32F5044B-FE24-4B4A-90AD-AAF561CA491B}"/>
              </a:ext>
            </a:extLst>
          </p:cNvPr>
          <p:cNvSpPr/>
          <p:nvPr/>
        </p:nvSpPr>
        <p:spPr>
          <a:xfrm>
            <a:off x="1342308" y="4290667"/>
            <a:ext cx="15606612" cy="1828800"/>
          </a:xfrm>
          <a:prstGeom prst="roundRect">
            <a:avLst>
              <a:gd name="adj" fmla="val 5000"/>
            </a:avLst>
          </a:prstGeom>
          <a:solidFill>
            <a:srgbClr val="F3F5EE"/>
          </a:solidFill>
          <a:ln/>
        </p:spPr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3264EF7F-065F-4E9B-B6CA-15D73D3F8FC1}"/>
              </a:ext>
            </a:extLst>
          </p:cNvPr>
          <p:cNvSpPr/>
          <p:nvPr/>
        </p:nvSpPr>
        <p:spPr>
          <a:xfrm>
            <a:off x="6562435" y="4396247"/>
            <a:ext cx="10222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3200" b="1" dirty="0">
                <a:solidFill>
                  <a:srgbClr val="163A26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آیا </a:t>
            </a:r>
            <a:r>
              <a:rPr lang="en-US" sz="3200" b="1">
                <a:solidFill>
                  <a:srgbClr val="163A26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بازیکنان سیدشده</a:t>
            </a:r>
            <a:r>
              <a:rPr lang="en-US" sz="3200"/>
              <a:t>(seeded)</a:t>
            </a:r>
            <a:r>
              <a:rPr lang="en-US" sz="3200" b="1">
                <a:solidFill>
                  <a:srgbClr val="163A26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 </a:t>
            </a:r>
            <a:r>
              <a:rPr lang="fa-IR" sz="3200" b="1">
                <a:solidFill>
                  <a:srgbClr val="163A26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 </a:t>
            </a:r>
            <a:r>
              <a:rPr lang="en-US" sz="3200" b="1">
                <a:solidFill>
                  <a:srgbClr val="163A26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واقعاً </a:t>
            </a:r>
            <a:r>
              <a:rPr lang="en-US" sz="3200" b="1" dirty="0">
                <a:solidFill>
                  <a:srgbClr val="163A26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عملکرد بهتری دارند؟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17FF5F15-50E8-438B-AB89-DBFE3F7EAFFD}"/>
              </a:ext>
            </a:extLst>
          </p:cNvPr>
          <p:cNvSpPr/>
          <p:nvPr/>
        </p:nvSpPr>
        <p:spPr>
          <a:xfrm>
            <a:off x="1342308" y="5275219"/>
            <a:ext cx="15398616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buNone/>
            </a:pPr>
            <a:r>
              <a:rPr lang="en-US" sz="320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بله</a:t>
            </a:r>
            <a:r>
              <a:rPr lang="fa-IR" sz="320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،</a:t>
            </a:r>
            <a:r>
              <a:rPr lang="en-US" sz="320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 </a:t>
            </a:r>
            <a:r>
              <a:rPr lang="en-US" sz="3200" dirty="0">
                <a:solidFill>
                  <a:srgbClr val="1F2A22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بازیکنان سیدشده با نرخ برد ۵۵.۴٪ در مقابل ۴۸.۰٪ برای بازیکنان بدون سید، عملکرد بهتری ثبت کرده‌اند.</a:t>
            </a:r>
            <a:endParaRPr lang="en-US" sz="3200" dirty="0">
              <a:cs typeface="B Nazanin" panose="00000400000000000000" pitchFamily="2" charset="-78"/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56004F54-FB87-4450-A249-2E0F16522C19}"/>
              </a:ext>
            </a:extLst>
          </p:cNvPr>
          <p:cNvSpPr/>
          <p:nvPr/>
        </p:nvSpPr>
        <p:spPr>
          <a:xfrm>
            <a:off x="1335931" y="6564465"/>
            <a:ext cx="15606612" cy="1828800"/>
          </a:xfrm>
          <a:prstGeom prst="roundRect">
            <a:avLst>
              <a:gd name="adj" fmla="val 5000"/>
            </a:avLst>
          </a:prstGeom>
          <a:solidFill>
            <a:srgbClr val="F3F5EE"/>
          </a:solidFill>
          <a:ln/>
        </p:spPr>
      </p:sp>
    </p:spTree>
    <p:extLst>
      <p:ext uri="{BB962C8B-B14F-4D97-AF65-F5344CB8AC3E}">
        <p14:creationId xmlns:p14="http://schemas.microsoft.com/office/powerpoint/2010/main" val="2467514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212" b="-8321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690830" y="3115623"/>
            <a:ext cx="2906341" cy="2922280"/>
          </a:xfrm>
          <a:custGeom>
            <a:avLst/>
            <a:gdLst/>
            <a:ahLst/>
            <a:cxnLst/>
            <a:rect l="l" t="t" r="r" b="b"/>
            <a:pathLst>
              <a:path w="2906341" h="2922280">
                <a:moveTo>
                  <a:pt x="0" y="0"/>
                </a:moveTo>
                <a:lnTo>
                  <a:pt x="2906340" y="0"/>
                </a:lnTo>
                <a:lnTo>
                  <a:pt x="2906340" y="2922280"/>
                </a:lnTo>
                <a:lnTo>
                  <a:pt x="0" y="2922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867427" y="631804"/>
            <a:ext cx="16553146" cy="483278"/>
            <a:chOff x="0" y="0"/>
            <a:chExt cx="13919925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19926" cy="406400"/>
            </a:xfrm>
            <a:custGeom>
              <a:avLst/>
              <a:gdLst/>
              <a:ahLst/>
              <a:cxnLst/>
              <a:rect l="l" t="t" r="r" b="b"/>
              <a:pathLst>
                <a:path w="13919926" h="406400">
                  <a:moveTo>
                    <a:pt x="13716726" y="0"/>
                  </a:moveTo>
                  <a:cubicBezTo>
                    <a:pt x="13828950" y="0"/>
                    <a:pt x="13919926" y="90976"/>
                    <a:pt x="13919926" y="203200"/>
                  </a:cubicBezTo>
                  <a:cubicBezTo>
                    <a:pt x="13919926" y="315424"/>
                    <a:pt x="13828950" y="406400"/>
                    <a:pt x="1371672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13919925" cy="358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9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-62658" y="9776272"/>
            <a:ext cx="18350658" cy="0"/>
          </a:xfrm>
          <a:prstGeom prst="line">
            <a:avLst/>
          </a:prstGeom>
          <a:ln w="2857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5982811" y="765810"/>
            <a:ext cx="1276489" cy="269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Slide </a:t>
            </a:r>
            <a:r>
              <a:rPr lang="fa-IR" sz="2099" b="1" spc="-125">
                <a:solidFill>
                  <a:srgbClr val="1E1E1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12</a:t>
            </a:r>
            <a:endParaRPr lang="en-US" sz="2099" b="1" spc="-125">
              <a:solidFill>
                <a:srgbClr val="1E1E1E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5AB6196E-F97D-40AF-A623-6B8F67DBF75D}"/>
              </a:ext>
            </a:extLst>
          </p:cNvPr>
          <p:cNvSpPr/>
          <p:nvPr/>
        </p:nvSpPr>
        <p:spPr>
          <a:xfrm>
            <a:off x="1981200" y="7124044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B Nazanin" panose="00000400000000000000" pitchFamily="2" charset="-78"/>
              </a:rPr>
              <a:t>با تشکر از توجه شما</a:t>
            </a:r>
            <a:endParaRPr lang="en-US" sz="7200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281</Words>
  <Application>Microsoft Office PowerPoint</Application>
  <PresentationFormat>Custom</PresentationFormat>
  <Paragraphs>34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Montserrat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Blue Simple Tennis Presentation</dc:title>
  <cp:lastModifiedBy>mohadese rafighi</cp:lastModifiedBy>
  <cp:revision>49</cp:revision>
  <dcterms:created xsi:type="dcterms:W3CDTF">2006-08-16T00:00:00Z</dcterms:created>
  <dcterms:modified xsi:type="dcterms:W3CDTF">2026-09-18T12:24:28Z</dcterms:modified>
  <dc:identifier>DAHUcY2BlfM</dc:identifier>
</cp:coreProperties>
</file>